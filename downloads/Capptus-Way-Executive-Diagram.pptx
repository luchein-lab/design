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e4b0c26b68455e" /><Relationship Type="http://schemas.openxmlformats.org/officeDocument/2006/relationships/extended-properties" Target="/docProps/app.xml" Id="R4b9d607f748042a0" /><Relationship Type="http://schemas.openxmlformats.org/officeDocument/2006/relationships/officeDocument" Target="/ppt/presentation.xml" Id="R2dda28e7dd0342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e2b0257264876"/>
  </p:sldMasterIdLst>
  <p:notesMasterIdLst>
    <p:notesMasterId xmlns:r="http://schemas.openxmlformats.org/officeDocument/2006/relationships" r:id="Ra033e88f7c444ff9"/>
  </p:notesMasterIdLst>
  <p:sldIdLst>
    <p:sldId xmlns:r="http://schemas.openxmlformats.org/officeDocument/2006/relationships" id="256" r:id="R77130427a457432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1e409899484b75" /><Relationship Type="http://schemas.openxmlformats.org/officeDocument/2006/relationships/slideMaster" Target="/ppt/slideMasters/slideMaster1.xml" Id="R497e2b0257264876" /><Relationship Type="http://schemas.openxmlformats.org/officeDocument/2006/relationships/notesMaster" Target="/ppt/notesMasters/notesMaster1.xml" Id="Ra033e88f7c444ff9" /><Relationship Type="http://schemas.openxmlformats.org/officeDocument/2006/relationships/presProps" Target="/ppt/presProps.xml" Id="R15ea26b9e0ad4a4d" /><Relationship Type="http://schemas.openxmlformats.org/officeDocument/2006/relationships/tableStyles" Target="/ppt/tableStyles.xml" Id="R0f8d47fec8e04d77" /><Relationship Type="http://schemas.openxmlformats.org/officeDocument/2006/relationships/slide" Target="/ppt/slides/slide1.xml" Id="R77130427a45743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1d94bf8a86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301c65217c408b" /><Relationship Type="http://schemas.openxmlformats.org/officeDocument/2006/relationships/notesMaster" Target="/ppt/notesMasters/notesMaster1.xml" Id="R2f3621d5872542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Capptus Way delivery sequence supplied by the user: Seedling / Discover; Budding / Design; Growing / Build; Nurturing / Integrate; Pruning / Test / Train; Harvest / Deploy. Discover covers problem, objectives, users, processes, data, constraints and expected outcomes. Design covers journeys, architecture, data, integrations, experience and backlog. Test / Train includes QA, UAT, corrections, operational readiness, training and adoption. The user suggested adding Optimize / Grow for Agentforce, Managed Services and Marketing Cloud as a Service; Regrowth is a proposed narrative label. Learning returns to discovery and design. Artwork: existing Capptus Way icons-v1 final PNGs and primary-side-negative-v4 logo. Typography: approved Lora and Montserrat.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f84de567964b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6a63075ad44b0e" /><Relationship Type="http://schemas.openxmlformats.org/officeDocument/2006/relationships/slideLayout" Target="/ppt/slideLayouts/slideLayout1.xml" Id="R7d05cecab6d6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05cecab6d6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44ec06ad14543" /><Relationship Type="http://schemas.openxmlformats.org/officeDocument/2006/relationships/image" Target="/ppt/media/image.png" Id="R0fec0593e3b44852" /><Relationship Type="http://schemas.openxmlformats.org/officeDocument/2006/relationships/image" Target="/ppt/media/image2.png" Id="Re8a8c75c6bfc45de" /><Relationship Type="http://schemas.openxmlformats.org/officeDocument/2006/relationships/image" Target="/ppt/media/image3.png" Id="Rd4fcc0cedab44778" /><Relationship Type="http://schemas.openxmlformats.org/officeDocument/2006/relationships/image" Target="/ppt/media/image4.png" Id="R92a2eda22f714f20" /><Relationship Type="http://schemas.openxmlformats.org/officeDocument/2006/relationships/image" Target="/ppt/media/image5.png" Id="R96e49dfa56384aa5" /><Relationship Type="http://schemas.openxmlformats.org/officeDocument/2006/relationships/image" Target="/ppt/media/image6.png" Id="Rc469faf8b61f4631" /><Relationship Type="http://schemas.openxmlformats.org/officeDocument/2006/relationships/image" Target="/ppt/media/image7.png" Id="R4e4b8ab58ea84ac6" /><Relationship Type="http://schemas.openxmlformats.org/officeDocument/2006/relationships/image" Target="/ppt/media/image8.png" Id="R8b82626e3f684e18" /><Relationship Type="http://schemas.openxmlformats.org/officeDocument/2006/relationships/notesSlide" Target="/ppt/notesSlides/notesSlide1.xml" Id="R481ec8a280434a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470BE3-EE55-495F-828B-EADC39A4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ED1"/>
          </a:solidFill>
          <a:ln xmlns:a="http://schemas.openxmlformats.org/drawingml/2006/main" w="0">
            <a:noFill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c0593e3b44852"/>
          <a:stretch xmlns:a="http://schemas.openxmlformats.org/drawingml/2006/main"/>
        </p:blipFill>
        <p:spPr>
          <a:xfrm xmlns:a="http://schemas.openxmlformats.org/drawingml/2006/main">
            <a:off x="612401" y="47625"/>
            <a:ext cx="3956797" cy="20383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76DF1-A02F-41FC-ABB2-C4034D0F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3400"/>
            <a:ext cx="1190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 i="0">
                <a:solidFill>
                  <a:srgbClr val="FFFFFF"/>
                </a:solidFill>
                <a:latin typeface="Lora"/>
                <a:ea typeface="Lora"/>
                <a:cs typeface="Lora"/>
              </a:defRPr>
            </a:pPr>
            <a:r>
              <a:rPr sz="4575" b="0" i="0">
                <a:solidFill>
                  <a:srgbClr val="FFFFFF"/>
                </a:solidFill>
                <a:latin typeface="Lora"/>
                <a:ea typeface="Lora"/>
                <a:cs typeface="Lora"/>
              </a:rPr>
              <a:t>Our delivery &amp; growth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D5D6D-7EBE-40CD-88A6-9F609434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447800"/>
            <a:ext cx="1171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Six delivery stages. Continuous improvement after go-live.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1CB7E-5383-4AE0-9027-AB47E28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8c75c6bfc45de"/>
          <a:stretch xmlns:a="http://schemas.openxmlformats.org/drawingml/2006/main"/>
        </p:blipFill>
        <p:spPr>
          <a:xfrm xmlns:a="http://schemas.openxmlformats.org/drawingml/2006/main">
            <a:off x="1114425" y="33528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42700-81A3-4C1D-952B-EB3F3B2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482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255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Seedling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CF437-0642-4160-B6EE-891F7094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B8FF3-3832-40D3-A565-8D2800B0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Align on the 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3B4B4-1945-42A7-B80C-28261548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1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and desired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C6DC5-0A75-4685-A53E-5D696AD8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88A1D-168F-4EB0-B51C-63B9344E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09925" y="4191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2A0FA-C543-4A60-B369-CDC1325E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cc0cedab44778"/>
          <a:stretch xmlns:a="http://schemas.openxmlformats.org/drawingml/2006/main"/>
        </p:blipFill>
        <p:spPr>
          <a:xfrm xmlns:a="http://schemas.openxmlformats.org/drawingml/2006/main">
            <a:off x="3876675" y="33528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59558-100B-490B-A449-8F74A68D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482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255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Budding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D9206-530A-4383-B8CB-8A6E8445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626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D8E4F-9B76-4236-93BF-29316345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31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Define the 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D8724-D7F6-4637-9B7E-87F8B2A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61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and delivery 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29319-E8A5-4C90-8BD9-BB82133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8970C-AD99-40B9-B5CE-841B5897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972175" y="4191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FB0CB-6AF9-4F59-8554-F51AF87D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2eda22f714f20"/>
          <a:stretch xmlns:a="http://schemas.openxmlformats.org/drawingml/2006/main"/>
        </p:blipFill>
        <p:spPr>
          <a:xfrm xmlns:a="http://schemas.openxmlformats.org/drawingml/2006/main">
            <a:off x="6638925" y="33528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86DD22-F39D-43EA-BA40-4EC1F513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482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255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Growing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63531-902D-4BA5-AB40-38B616A5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626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Build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32DB5D-D5AD-44A5-8B50-65BAF31E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31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Configure and develop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84C99-BE67-41AF-B746-0E9B7EEE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61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the solution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457FB-2738-465F-A50E-954C5B20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F3792-7920-4AD7-B140-5ADD0E9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734425" y="4191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9613D-3F91-4E1B-AAE8-4D51451E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49dfa56384aa5"/>
          <a:stretch xmlns:a="http://schemas.openxmlformats.org/drawingml/2006/main"/>
        </p:blipFill>
        <p:spPr>
          <a:xfrm xmlns:a="http://schemas.openxmlformats.org/drawingml/2006/main">
            <a:off x="9401175" y="33528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CD7E0C-3A79-487F-9FE7-9BB30A42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482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255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Nurturing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CDF67-E440-4119-A110-D65041EA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7626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Integrate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512394-4C8C-433D-8731-001268BC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1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Connect systems,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57911-01FB-4D98-AF4E-B23EF8C3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61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data and channels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AAF2A6-7ABA-4127-9160-B0BECF71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C2449-161B-4CA8-B6EF-F5ECE380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1496675" y="4191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B14DF0-8991-4A2B-8066-94AC768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9faf8b61f4631"/>
          <a:stretch xmlns:a="http://schemas.openxmlformats.org/drawingml/2006/main"/>
        </p:blipFill>
        <p:spPr>
          <a:xfrm xmlns:a="http://schemas.openxmlformats.org/drawingml/2006/main">
            <a:off x="12163425" y="33528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1C38DF-C09D-4F63-8D40-33CE348D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482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255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Pruning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576081-54C2-4625-A201-129516CC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7626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Test / Train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DA34E2-9010-4230-BD60-737E2C4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31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Validate quality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5C8898-F94F-4742-B585-6E56F370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61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and prepare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C41A6D-9193-4F43-A79A-B5EFAC19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78CD73-D7D4-479B-9BC8-38EC78C9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4181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0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258925" y="41910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4956F5-D869-4817-9CE6-9169A1F8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b8ab58ea84ac6"/>
          <a:stretch xmlns:a="http://schemas.openxmlformats.org/drawingml/2006/main"/>
        </p:blipFill>
        <p:spPr>
          <a:xfrm xmlns:a="http://schemas.openxmlformats.org/drawingml/2006/main">
            <a:off x="14925675" y="3352800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9DE6F4-D625-4A0D-BED0-35EA0A19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52482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255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Harvest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B6D7A9-E7D3-4375-8141-C04D830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576262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75" b="1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Deploy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5C31E9-C8F0-4187-B570-1FB5D43F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3150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Go live, stabilize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DA47FD-EAEA-4D1B-9E85-12C9364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610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and capture value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691AD6-11D8-4200-ADF0-8C926787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562850"/>
            <a:ext cx="1657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E"/>
          </a:solidFill>
          <a:ln xmlns:a="http://schemas.openxmlformats.org/drawingml/2006/main" w="0">
            <a:noFill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2626e3f684e18"/>
          <a:stretch xmlns:a="http://schemas.openxmlformats.org/drawingml/2006/main"/>
        </p:blipFill>
        <p:spPr>
          <a:xfrm xmlns:a="http://schemas.openxmlformats.org/drawingml/2006/main">
            <a:off x="1047750" y="7686675"/>
            <a:ext cx="1676400" cy="16764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549F5F-9F71-49E8-ABB1-116A29CF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77914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07 / REGROWTH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5D56164-A44C-436D-8F72-11237E8A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82486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1B1B19"/>
                </a:solidFill>
                <a:latin typeface="Lora"/>
                <a:ea typeface="Lora"/>
                <a:cs typeface="Lora"/>
              </a:defRPr>
            </a:pPr>
            <a:r>
              <a:rPr sz="3300" b="0" i="0">
                <a:solidFill>
                  <a:srgbClr val="1B1B19"/>
                </a:solidFill>
                <a:latin typeface="Lora"/>
                <a:ea typeface="Lora"/>
                <a:cs typeface="Lora"/>
              </a:rPr>
              <a:t>Optimize / Grow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FE5B31-A346-496C-9A0C-F7D335D8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058150"/>
            <a:ext cx="750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B1B19"/>
                </a:solidFill>
                <a:latin typeface="Montserrat"/>
                <a:ea typeface="Montserrat"/>
                <a:cs typeface="Montserrat"/>
              </a:defRPr>
            </a:pPr>
            <a:r>
              <a:rPr sz="2100" b="0" i="0">
                <a:solidFill>
                  <a:srgbClr val="1B1B19"/>
                </a:solidFill>
                <a:latin typeface="Montserrat"/>
                <a:ea typeface="Montserrat"/>
                <a:cs typeface="Montserrat"/>
              </a:rPr>
              <a:t>Measure results. Learn from use.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E776A6-F2F8-47F6-92F3-73AD097E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8591550"/>
            <a:ext cx="750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Improve adoption, AI and the next release.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A2C5E54-F75D-4519-A6E3-524B39C1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019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CA5DCC7-4C2B-42D4-976E-0FE9B5CD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7439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15754350" y="7029450"/>
            <a:ext cx="190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ED1"/>
            </a:solidFill>
            <a:tailEnd type="triangle" w="med" len="med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15F808-40E4-4DD5-9006-2BC0FFBF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3CD1A3-326C-49C7-A972-31AA416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>
            <a:off x="419100" y="8572500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ED1"/>
            </a:solidFill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7AE76B-164E-44FF-B54A-0580F977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6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2338619-1FDD-42E8-807E-E2C9A89A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 flipV="1">
            <a:off x="419100" y="2638425"/>
            <a:ext cx="19050" cy="5934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ED1"/>
            </a:solidFill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D0C5E2-D063-4096-8D1D-1AEA009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570AEE-B5DA-4593-99D3-EBB7B9E1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4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38150" y="2638425"/>
            <a:ext cx="426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8ED1"/>
            </a:solidFill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D8E17A-5A5E-4A99-9520-8E2C19BB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628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7023B7-044D-466B-8B23-4BD7F25E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47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H="1">
            <a:off x="1943100" y="2638425"/>
            <a:ext cx="1905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01768A-BC7A-40F7-9EF3-C26114F6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8572D2B-1C4E-4013-8D85-FDB3BE8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47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H="1">
            <a:off x="4705350" y="2638425"/>
            <a:ext cx="1905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008ED1"/>
            </a:solidFill>
            <a:tailEnd type="triangle" w="med" len="med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934E66-A0E9-4112-94AE-9B1F25A9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66975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006D9E"/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006D9E"/>
                </a:solidFill>
                <a:latin typeface="Montserrat"/>
                <a:ea typeface="Montserrat"/>
                <a:cs typeface="Montserrat"/>
              </a:rPr>
              <a:t>Learning informs the next priorities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C14B58-710B-486B-A3C5-4C950DD4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858375"/>
            <a:ext cx="1609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6660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646660"/>
                </a:solidFill>
                <a:latin typeface="Montserrat"/>
                <a:ea typeface="Montserrat"/>
                <a:cs typeface="Montserrat"/>
              </a:rPr>
              <a:t>Optimize / Grow is the proposed extension to the six-stage delivery method.</a:t>
            </a:r>
          </a:p>
        </p:txBody>
      </p:sp>
    </p:spTree>
    <p:extLst>
      <p:ext uri="{BB962C8B-B14F-4D97-AF65-F5344CB8AC3E}">
        <p14:creationId xmlns:p14="http://schemas.microsoft.com/office/powerpoint/2010/main" val="1580929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2026-10-02T13:15:23.9810000Z</dcterms:created>
  <dcterms:modified xsi:type="dcterms:W3CDTF">2026-10-02T13:15:23.9810000Z</dcterms:modified>
</coreProperties>
</file>